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56/wSp8NVNqzoOxc8Qb1U77Gg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27A0EA-411D-4CA8-A063-A0710C68FB14}">
  <a:tblStyle styleId="{1427A0EA-411D-4CA8-A063-A0710C68FB1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c64c281c6_0_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8c64c281c6_0_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c64c281c6_0_1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c64c281c6_0_1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c64c281c6_0_1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8c64c281c6_0_1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c64c281c6_0_2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8c64c281c6_0_2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c64c281c6_0_3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8c64c281c6_0_3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c64c281c6_0_3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8c64c281c6_0_3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5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5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5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5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5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5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5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yourusername/orbix" TargetMode="External"/><Relationship Id="rId4" Type="http://schemas.openxmlformats.org/officeDocument/2006/relationships/hyperlink" Target="https://github.com/yourusername/orbix" TargetMode="External"/><Relationship Id="rId5" Type="http://schemas.openxmlformats.org/officeDocument/2006/relationships/hyperlink" Target="https://github.com/yourusername/orbix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Exploratory Project (EP)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MY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MY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Orbix</a:t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MY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MY" sz="2000">
                <a:latin typeface="Times New Roman"/>
                <a:ea typeface="Times New Roman"/>
                <a:cs typeface="Times New Roman"/>
                <a:sym typeface="Times New Roman"/>
              </a:rPr>
              <a:t>Kshtij Bhardwaj(2210991819)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MY" sz="2000">
                <a:latin typeface="Times New Roman"/>
                <a:ea typeface="Times New Roman"/>
                <a:cs typeface="Times New Roman"/>
                <a:sym typeface="Times New Roman"/>
              </a:rPr>
              <a:t>Kumar garg(2210991820)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MY" sz="2000">
                <a:latin typeface="Times New Roman"/>
                <a:ea typeface="Times New Roman"/>
                <a:cs typeface="Times New Roman"/>
                <a:sym typeface="Times New Roman"/>
              </a:rPr>
              <a:t>Lakshay Kumar (2210991841)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MY"/>
              <a:t>                                                                          </a:t>
            </a:r>
            <a:r>
              <a:rPr b="0" i="0" lang="en-MY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MY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Dr. Shyam Goyal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MY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MY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MY" sz="3800"/>
              <a:t>Content</a:t>
            </a:r>
            <a:endParaRPr sz="3800"/>
          </a:p>
        </p:txBody>
      </p:sp>
      <p:sp>
        <p:nvSpPr>
          <p:cNvPr id="90" name="Google Shape;90;p2"/>
          <p:cNvSpPr txBox="1"/>
          <p:nvPr>
            <p:ph idx="1" type="subTitle"/>
          </p:nvPr>
        </p:nvSpPr>
        <p:spPr>
          <a:xfrm>
            <a:off x="278294" y="1364973"/>
            <a:ext cx="7779027" cy="4956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MY" sz="24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MY" sz="24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MY" sz="24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MY" sz="2400">
                <a:latin typeface="Times New Roman"/>
                <a:ea typeface="Times New Roman"/>
                <a:cs typeface="Times New Roman"/>
                <a:sym typeface="Times New Roman"/>
              </a:rPr>
              <a:t>Tools and Technologies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MY" sz="240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MY" sz="2400">
                <a:latin typeface="Times New Roman"/>
                <a:ea typeface="Times New Roman"/>
                <a:cs typeface="Times New Roman"/>
                <a:sym typeface="Times New Roman"/>
              </a:rPr>
              <a:t>Results and Outputs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MY" sz="24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MY" sz="2400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MY" sz="2400">
                <a:latin typeface="Times New Roman"/>
                <a:ea typeface="Times New Roman"/>
                <a:cs typeface="Times New Roman"/>
                <a:sym typeface="Times New Roman"/>
              </a:rPr>
              <a:t>Acknowledgement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MY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2 – Abstract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MY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>
                <a:solidFill>
                  <a:schemeClr val="dk1"/>
                </a:solidFill>
              </a:rPr>
              <a:t>Objective: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To build a secure, high-performance </a:t>
            </a:r>
            <a:r>
              <a:rPr b="1" lang="en-MY" sz="1800">
                <a:solidFill>
                  <a:schemeClr val="dk1"/>
                </a:solidFill>
              </a:rPr>
              <a:t>centralized crypto exchange (CEX)</a:t>
            </a:r>
            <a:r>
              <a:rPr lang="en-MY" sz="1800">
                <a:solidFill>
                  <a:schemeClr val="dk1"/>
                </a:solidFill>
              </a:rPr>
              <a:t> enabling seamless digital asset trading.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>
                <a:solidFill>
                  <a:schemeClr val="dk1"/>
                </a:solidFill>
              </a:rPr>
              <a:t>Scope: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Covers </a:t>
            </a:r>
            <a:r>
              <a:rPr b="1" lang="en-MY" sz="1800">
                <a:solidFill>
                  <a:schemeClr val="dk1"/>
                </a:solidFill>
              </a:rPr>
              <a:t>user authentication</a:t>
            </a:r>
            <a:r>
              <a:rPr lang="en-MY" sz="1800">
                <a:solidFill>
                  <a:schemeClr val="dk1"/>
                </a:solidFill>
              </a:rPr>
              <a:t>, </a:t>
            </a:r>
            <a:r>
              <a:rPr b="1" lang="en-MY" sz="1800">
                <a:solidFill>
                  <a:schemeClr val="dk1"/>
                </a:solidFill>
              </a:rPr>
              <a:t>order matching</a:t>
            </a:r>
            <a:r>
              <a:rPr lang="en-MY" sz="1800">
                <a:solidFill>
                  <a:schemeClr val="dk1"/>
                </a:solidFill>
              </a:rPr>
              <a:t>, </a:t>
            </a:r>
            <a:r>
              <a:rPr b="1" lang="en-MY" sz="1800">
                <a:solidFill>
                  <a:schemeClr val="dk1"/>
                </a:solidFill>
              </a:rPr>
              <a:t>wallet management</a:t>
            </a:r>
            <a:r>
              <a:rPr lang="en-MY" sz="1800">
                <a:solidFill>
                  <a:schemeClr val="dk1"/>
                </a:solidFill>
              </a:rPr>
              <a:t>, and </a:t>
            </a:r>
            <a:r>
              <a:rPr b="1" lang="en-MY" sz="1800">
                <a:solidFill>
                  <a:schemeClr val="dk1"/>
                </a:solidFill>
              </a:rPr>
              <a:t>real-time market data</a:t>
            </a:r>
            <a:r>
              <a:rPr lang="en-MY" sz="1800">
                <a:solidFill>
                  <a:schemeClr val="dk1"/>
                </a:solidFill>
              </a:rPr>
              <a:t> using scalable backend infrastructure.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>
                <a:solidFill>
                  <a:schemeClr val="dk1"/>
                </a:solidFill>
              </a:rPr>
              <a:t>Method Used: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Developed using </a:t>
            </a:r>
            <a:r>
              <a:rPr b="1" lang="en-MY" sz="1800">
                <a:solidFill>
                  <a:schemeClr val="dk1"/>
                </a:solidFill>
              </a:rPr>
              <a:t>Go</a:t>
            </a:r>
            <a:r>
              <a:rPr lang="en-MY" sz="1800">
                <a:solidFill>
                  <a:schemeClr val="dk1"/>
                </a:solidFill>
              </a:rPr>
              <a:t>, </a:t>
            </a:r>
            <a:r>
              <a:rPr b="1" lang="en-MY" sz="1800">
                <a:solidFill>
                  <a:schemeClr val="dk1"/>
                </a:solidFill>
              </a:rPr>
              <a:t>PostgreSQL</a:t>
            </a:r>
            <a:r>
              <a:rPr lang="en-MY" sz="1800">
                <a:solidFill>
                  <a:schemeClr val="dk1"/>
                </a:solidFill>
              </a:rPr>
              <a:t>, and </a:t>
            </a:r>
            <a:r>
              <a:rPr b="1" lang="en-MY" sz="1800">
                <a:solidFill>
                  <a:schemeClr val="dk1"/>
                </a:solidFill>
              </a:rPr>
              <a:t>WebSockets</a:t>
            </a:r>
            <a:r>
              <a:rPr lang="en-MY" sz="1800">
                <a:solidFill>
                  <a:schemeClr val="dk1"/>
                </a:solidFill>
              </a:rPr>
              <a:t> for real-time order updates; deployed with </a:t>
            </a:r>
            <a:r>
              <a:rPr b="1" lang="en-MY" sz="1800">
                <a:solidFill>
                  <a:schemeClr val="dk1"/>
                </a:solidFill>
              </a:rPr>
              <a:t>Docker &amp; Kubernetes</a:t>
            </a:r>
            <a:r>
              <a:rPr lang="en-MY" sz="1800">
                <a:solidFill>
                  <a:schemeClr val="dk1"/>
                </a:solidFill>
              </a:rPr>
              <a:t> for fault tolerance.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>
                <a:solidFill>
                  <a:schemeClr val="dk1"/>
                </a:solidFill>
              </a:rPr>
              <a:t>Major Expected Outcome: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A </a:t>
            </a:r>
            <a:r>
              <a:rPr b="1" lang="en-MY" sz="1800">
                <a:solidFill>
                  <a:schemeClr val="dk1"/>
                </a:solidFill>
              </a:rPr>
              <a:t>robust, low-latency exchange</a:t>
            </a:r>
            <a:r>
              <a:rPr lang="en-MY" sz="1800">
                <a:solidFill>
                  <a:schemeClr val="dk1"/>
                </a:solidFill>
              </a:rPr>
              <a:t> prototype demonstrating efficient trade execution and infrastructure reliability.</a:t>
            </a:r>
            <a:endParaRPr sz="1800">
              <a:solidFill>
                <a:schemeClr val="dk1"/>
              </a:solidFill>
            </a:endParaRPr>
          </a:p>
          <a:p>
            <a:pPr indent="-3937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∙"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c64c281c6_0_3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MY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3 – Introduction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8c64c281c6_0_3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MY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8c64c281c6_0_3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>
                <a:solidFill>
                  <a:schemeClr val="dk1"/>
                </a:solidFill>
              </a:rPr>
              <a:t>Background of the Topic: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Centralized crypto exchanges (CEXs) enable secure trading and liquidity for digital assets.</a:t>
            </a:r>
            <a:br>
              <a:rPr lang="en-MY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They require highly optimized systems for matching trades, managing wallets, and ensuring user trust.</a:t>
            </a:r>
            <a:br>
              <a:rPr lang="en-MY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>
                <a:solidFill>
                  <a:schemeClr val="dk1"/>
                </a:solidFill>
              </a:rPr>
              <a:t>Problem Statement: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Building a reliable and scalable exchange remains </a:t>
            </a:r>
            <a:r>
              <a:rPr b="1" lang="en-MY" sz="1800">
                <a:solidFill>
                  <a:schemeClr val="dk1"/>
                </a:solidFill>
              </a:rPr>
              <a:t>technically complex and resource-intensive</a:t>
            </a:r>
            <a:r>
              <a:rPr lang="en-MY" sz="1800">
                <a:solidFill>
                  <a:schemeClr val="dk1"/>
                </a:solidFill>
              </a:rPr>
              <a:t>, often requiring deep expertise in systems engineering, security, and infrastructure.</a:t>
            </a:r>
            <a:br>
              <a:rPr lang="en-MY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Smaller teams struggle to achieve the </a:t>
            </a:r>
            <a:r>
              <a:rPr b="1" lang="en-MY" sz="1800">
                <a:solidFill>
                  <a:schemeClr val="dk1"/>
                </a:solidFill>
              </a:rPr>
              <a:t>performance, security, and compliance</a:t>
            </a:r>
            <a:r>
              <a:rPr lang="en-MY" sz="1800">
                <a:solidFill>
                  <a:schemeClr val="dk1"/>
                </a:solidFill>
              </a:rPr>
              <a:t> standards of major exchanges.</a:t>
            </a:r>
            <a:br>
              <a:rPr lang="en-MY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MY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937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∙"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97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Slide 4 - Introduction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MY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>
                <a:solidFill>
                  <a:schemeClr val="dk1"/>
                </a:solidFill>
              </a:rPr>
              <a:t>Motivation / Real-World Need: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The crypto ecosystem needs </a:t>
            </a:r>
            <a:r>
              <a:rPr b="1" lang="en-MY" sz="1800">
                <a:solidFill>
                  <a:schemeClr val="dk1"/>
                </a:solidFill>
              </a:rPr>
              <a:t>transparent, developer-friendly, and efficient</a:t>
            </a:r>
            <a:r>
              <a:rPr lang="en-MY" sz="1800">
                <a:solidFill>
                  <a:schemeClr val="dk1"/>
                </a:solidFill>
              </a:rPr>
              <a:t> exchange infrastructure that can be deployed and scaled easily.</a:t>
            </a:r>
            <a:br>
              <a:rPr lang="en-MY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>
                <a:solidFill>
                  <a:schemeClr val="dk1"/>
                </a:solidFill>
              </a:rPr>
              <a:t>Key Objectives of the Project: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Develop a </a:t>
            </a:r>
            <a:r>
              <a:rPr b="1" lang="en-MY" sz="1800">
                <a:solidFill>
                  <a:schemeClr val="dk1"/>
                </a:solidFill>
              </a:rPr>
              <a:t>high-performance centralized exchange</a:t>
            </a:r>
            <a:r>
              <a:rPr lang="en-MY" sz="1800">
                <a:solidFill>
                  <a:schemeClr val="dk1"/>
                </a:solidFill>
              </a:rPr>
              <a:t> prototype.</a:t>
            </a:r>
            <a:br>
              <a:rPr lang="en-MY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Implement a </a:t>
            </a:r>
            <a:r>
              <a:rPr b="1" lang="en-MY" sz="1800">
                <a:solidFill>
                  <a:schemeClr val="dk1"/>
                </a:solidFill>
              </a:rPr>
              <a:t>real-time order matching engine</a:t>
            </a:r>
            <a:r>
              <a:rPr lang="en-MY" sz="1800">
                <a:solidFill>
                  <a:schemeClr val="dk1"/>
                </a:solidFill>
              </a:rPr>
              <a:t> and </a:t>
            </a:r>
            <a:r>
              <a:rPr b="1" lang="en-MY" sz="1800">
                <a:solidFill>
                  <a:schemeClr val="dk1"/>
                </a:solidFill>
              </a:rPr>
              <a:t>secure wallet management</a:t>
            </a:r>
            <a:r>
              <a:rPr lang="en-MY" sz="1800">
                <a:solidFill>
                  <a:schemeClr val="dk1"/>
                </a:solidFill>
              </a:rPr>
              <a:t>.</a:t>
            </a:r>
            <a:br>
              <a:rPr lang="en-MY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MY" sz="1800">
                <a:solidFill>
                  <a:schemeClr val="dk1"/>
                </a:solidFill>
              </a:rPr>
              <a:t>Focus on </a:t>
            </a:r>
            <a:r>
              <a:rPr b="1" lang="en-MY" sz="1800">
                <a:solidFill>
                  <a:schemeClr val="dk1"/>
                </a:solidFill>
              </a:rPr>
              <a:t>scalability, reliability, and modular architecture</a:t>
            </a:r>
            <a:r>
              <a:rPr lang="en-MY" sz="1800">
                <a:solidFill>
                  <a:schemeClr val="dk1"/>
                </a:solidFill>
              </a:rPr>
              <a:t> using Go, Docker, and Kubernetes.</a:t>
            </a:r>
            <a:br>
              <a:rPr lang="en-MY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MY" sz="1800">
                <a:solidFill>
                  <a:schemeClr val="dk1"/>
                </a:solidFill>
              </a:rPr>
              <a:t>Demonstrate a </a:t>
            </a:r>
            <a:r>
              <a:rPr b="1" lang="en-MY" sz="1800">
                <a:solidFill>
                  <a:schemeClr val="dk1"/>
                </a:solidFill>
              </a:rPr>
              <a:t>production-ready backend</a:t>
            </a:r>
            <a:r>
              <a:rPr lang="en-MY" sz="1800">
                <a:solidFill>
                  <a:schemeClr val="dk1"/>
                </a:solidFill>
              </a:rPr>
              <a:t> capable of handling live trading operations.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MY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5 – Methodology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MY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268357" y="1278081"/>
            <a:ext cx="6808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br>
              <a:rPr b="0" i="0" lang="en-MY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97806"/>
            <a:ext cx="7614996" cy="4019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457380" y="173286"/>
            <a:ext cx="5618562" cy="7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MY" sz="2800">
                <a:latin typeface="Times New Roman"/>
                <a:ea typeface="Times New Roman"/>
                <a:cs typeface="Times New Roman"/>
                <a:sym typeface="Times New Roman"/>
              </a:rPr>
              <a:t>Slide 6 – Tools and Technologies</a:t>
            </a:r>
            <a:endParaRPr sz="6000"/>
          </a:p>
        </p:txBody>
      </p:sp>
      <p:graphicFrame>
        <p:nvGraphicFramePr>
          <p:cNvPr id="125" name="Google Shape;125;p7"/>
          <p:cNvGraphicFramePr/>
          <p:nvPr/>
        </p:nvGraphicFramePr>
        <p:xfrm>
          <a:off x="1119989" y="171628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{1427A0EA-411D-4CA8-A063-A0710C68FB14}</a:tableStyleId>
              </a:tblPr>
              <a:tblGrid>
                <a:gridCol w="1535550"/>
                <a:gridCol w="51102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000" u="none" cap="none" strike="noStrike"/>
                        <a:t>Category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000" u="none" cap="none" strike="noStrike"/>
                        <a:t>Tools/Technologies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000" u="none" cap="none" strike="noStrike"/>
                        <a:t>Front-End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000"/>
                        <a:t>Next.js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000" u="none" cap="none" strike="noStrike"/>
                        <a:t>Back-End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000"/>
                        <a:t>golang, kubernetes, docker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000" u="none" cap="none" strike="noStrike"/>
                        <a:t>Database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000"/>
                        <a:t>posgresSQL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000" u="none" cap="none" strike="noStrike"/>
                        <a:t>IDE/Cloud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000" u="none" cap="none" strike="noStrike"/>
                        <a:t>VS Code / 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457200" y="26504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MY" sz="2800">
                <a:latin typeface="Times New Roman"/>
                <a:ea typeface="Times New Roman"/>
                <a:cs typeface="Times New Roman"/>
                <a:sym typeface="Times New Roman"/>
              </a:rPr>
              <a:t>Slide 7 – Implementation</a:t>
            </a:r>
            <a:endParaRPr sz="6000"/>
          </a:p>
        </p:txBody>
      </p:sp>
      <p:sp>
        <p:nvSpPr>
          <p:cNvPr id="131" name="Google Shape;131;p8"/>
          <p:cNvSpPr txBox="1"/>
          <p:nvPr>
            <p:ph idx="1" type="subTitle"/>
          </p:nvPr>
        </p:nvSpPr>
        <p:spPr>
          <a:xfrm>
            <a:off x="192157" y="1206955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screenshots or code snippets (max 3–4)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Front-End interface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Module-wise description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75" y="1127775"/>
            <a:ext cx="8229248" cy="5352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c64c281c6_0_17"/>
          <p:cNvSpPr txBox="1"/>
          <p:nvPr>
            <p:ph type="title"/>
          </p:nvPr>
        </p:nvSpPr>
        <p:spPr>
          <a:xfrm>
            <a:off x="457200" y="26504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MY" sz="2800">
                <a:latin typeface="Times New Roman"/>
                <a:ea typeface="Times New Roman"/>
                <a:cs typeface="Times New Roman"/>
                <a:sym typeface="Times New Roman"/>
              </a:rPr>
              <a:t>Slide 7 – Implementation</a:t>
            </a:r>
            <a:endParaRPr sz="6000"/>
          </a:p>
        </p:txBody>
      </p:sp>
      <p:sp>
        <p:nvSpPr>
          <p:cNvPr id="138" name="Google Shape;138;g38c64c281c6_0_17"/>
          <p:cNvSpPr txBox="1"/>
          <p:nvPr>
            <p:ph idx="1" type="subTitle"/>
          </p:nvPr>
        </p:nvSpPr>
        <p:spPr>
          <a:xfrm>
            <a:off x="192157" y="1206955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screenshots or code snippets (max 3–4)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Front-End interface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Module-wise description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8c64c281c6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00" y="883499"/>
            <a:ext cx="8765798" cy="570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c64c281c6_0_11"/>
          <p:cNvSpPr txBox="1"/>
          <p:nvPr>
            <p:ph type="title"/>
          </p:nvPr>
        </p:nvSpPr>
        <p:spPr>
          <a:xfrm>
            <a:off x="457200" y="26504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MY" sz="2800">
                <a:latin typeface="Times New Roman"/>
                <a:ea typeface="Times New Roman"/>
                <a:cs typeface="Times New Roman"/>
                <a:sym typeface="Times New Roman"/>
              </a:rPr>
              <a:t>Slide 7 – Implementation</a:t>
            </a:r>
            <a:endParaRPr sz="6000"/>
          </a:p>
        </p:txBody>
      </p:sp>
      <p:sp>
        <p:nvSpPr>
          <p:cNvPr id="145" name="Google Shape;145;g38c64c281c6_0_11"/>
          <p:cNvSpPr txBox="1"/>
          <p:nvPr>
            <p:ph idx="1" type="subTitle"/>
          </p:nvPr>
        </p:nvSpPr>
        <p:spPr>
          <a:xfrm>
            <a:off x="192157" y="1206955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screenshots or code snippets (max 3–4)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Front-End interface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Module-wise description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8c64c281c6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88" y="1052675"/>
            <a:ext cx="8398013" cy="546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c64c281c6_0_23"/>
          <p:cNvSpPr txBox="1"/>
          <p:nvPr>
            <p:ph type="title"/>
          </p:nvPr>
        </p:nvSpPr>
        <p:spPr>
          <a:xfrm>
            <a:off x="457200" y="26504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MY" sz="2800">
                <a:latin typeface="Times New Roman"/>
                <a:ea typeface="Times New Roman"/>
                <a:cs typeface="Times New Roman"/>
                <a:sym typeface="Times New Roman"/>
              </a:rPr>
              <a:t>Slide 7 – Implementation</a:t>
            </a:r>
            <a:endParaRPr sz="6000"/>
          </a:p>
        </p:txBody>
      </p:sp>
      <p:sp>
        <p:nvSpPr>
          <p:cNvPr id="152" name="Google Shape;152;g38c64c281c6_0_23"/>
          <p:cNvSpPr txBox="1"/>
          <p:nvPr>
            <p:ph idx="1" type="subTitle"/>
          </p:nvPr>
        </p:nvSpPr>
        <p:spPr>
          <a:xfrm>
            <a:off x="192157" y="1206955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screenshots or code snippets (max 3–4)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Front-End interface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0" i="0" lang="en-MY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Module-wise description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8c64c281c6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75" y="1127775"/>
            <a:ext cx="8229248" cy="5352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MY" sz="2800">
                <a:latin typeface="Times New Roman"/>
                <a:ea typeface="Times New Roman"/>
                <a:cs typeface="Times New Roman"/>
                <a:sym typeface="Times New Roman"/>
              </a:rPr>
              <a:t>Slide 8 – Results / Output</a:t>
            </a:r>
            <a:endParaRPr sz="6000"/>
          </a:p>
        </p:txBody>
      </p:sp>
      <p:sp>
        <p:nvSpPr>
          <p:cNvPr id="159" name="Google Shape;159;p9"/>
          <p:cNvSpPr txBox="1"/>
          <p:nvPr>
            <p:ph idx="1" type="subTitle"/>
          </p:nvPr>
        </p:nvSpPr>
        <p:spPr>
          <a:xfrm>
            <a:off x="218661" y="1312972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Results and Output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Developed the </a:t>
            </a: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core backend architecture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 for a centralized crypto exchange using Go and PostgreSQL.</a:t>
            </a:r>
            <a:b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Implemented </a:t>
            </a: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user authentication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order placement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basic order matching logic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 for trade simulation.</a:t>
            </a:r>
            <a:b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Designed a </a:t>
            </a: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modular system structure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 to easily extend future components like wallets, real-time updates, and onramping.</a:t>
            </a:r>
            <a:b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Deployed initial backend prototype using </a:t>
            </a: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Docker and Kubernetes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, ensuring scalability and maintainability.</a:t>
            </a:r>
            <a:b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Verified system stability through </a:t>
            </a: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API testing and mock trading workflows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, confirming correct order execution and database consistency.</a:t>
            </a:r>
            <a:b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Times New Roman"/>
              <a:buChar char="∙"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MY" sz="2400">
                <a:latin typeface="Times New Roman"/>
                <a:ea typeface="Times New Roman"/>
                <a:cs typeface="Times New Roman"/>
                <a:sym typeface="Times New Roman"/>
              </a:rPr>
              <a:t>Slide 9 – Major Findings &amp; Discussion</a:t>
            </a:r>
            <a:endParaRPr sz="5400"/>
          </a:p>
        </p:txBody>
      </p:sp>
      <p:sp>
        <p:nvSpPr>
          <p:cNvPr id="165" name="Google Shape;165;p10"/>
          <p:cNvSpPr txBox="1"/>
          <p:nvPr>
            <p:ph idx="1" type="subTitle"/>
          </p:nvPr>
        </p:nvSpPr>
        <p:spPr>
          <a:xfrm>
            <a:off x="231566" y="981135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MY" sz="1800"/>
              <a:t>Achievements, Insights &amp; Challenges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/>
              <a:t>Achievements / Improvements Made: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MY" sz="1800"/>
              <a:t>Built the </a:t>
            </a:r>
            <a:r>
              <a:rPr b="1" lang="en-MY" sz="1800"/>
              <a:t>foundational backend</a:t>
            </a:r>
            <a:r>
              <a:rPr lang="en-MY" sz="1800"/>
              <a:t> of a centralized exchange with modular architecture.</a:t>
            </a:r>
            <a:br>
              <a:rPr lang="en-MY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MY" sz="1800"/>
              <a:t>Improved </a:t>
            </a:r>
            <a:r>
              <a:rPr b="1" lang="en-MY" sz="1800"/>
              <a:t>code scalability and maintainability</a:t>
            </a:r>
            <a:r>
              <a:rPr lang="en-MY" sz="1800"/>
              <a:t> through microservice-style design using Go.</a:t>
            </a:r>
            <a:br>
              <a:rPr lang="en-MY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MY" sz="1800"/>
              <a:t>Established </a:t>
            </a:r>
            <a:r>
              <a:rPr b="1" lang="en-MY" sz="1800"/>
              <a:t>secure authentication</a:t>
            </a:r>
            <a:r>
              <a:rPr lang="en-MY" sz="1800"/>
              <a:t> and </a:t>
            </a:r>
            <a:r>
              <a:rPr b="1" lang="en-MY" sz="1800"/>
              <a:t>structured API endpoints</a:t>
            </a:r>
            <a:r>
              <a:rPr lang="en-MY" sz="1800"/>
              <a:t> for core exchange operations.</a:t>
            </a:r>
            <a:br>
              <a:rPr lang="en-MY" sz="1800"/>
            </a:b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/>
              <a:t>Technical / Research Insights Gained: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MY" sz="1800"/>
              <a:t>Gained a deep understanding of </a:t>
            </a:r>
            <a:r>
              <a:rPr b="1" lang="en-MY" sz="1800"/>
              <a:t>order matching logic</a:t>
            </a:r>
            <a:r>
              <a:rPr lang="en-MY" sz="1800"/>
              <a:t>, </a:t>
            </a:r>
            <a:r>
              <a:rPr b="1" lang="en-MY" sz="1800"/>
              <a:t>trade lifecycle</a:t>
            </a:r>
            <a:r>
              <a:rPr lang="en-MY" sz="1800"/>
              <a:t>, and </a:t>
            </a:r>
            <a:r>
              <a:rPr b="1" lang="en-MY" sz="1800"/>
              <a:t>exchange architecture</a:t>
            </a:r>
            <a:r>
              <a:rPr lang="en-MY" sz="1800"/>
              <a:t>.</a:t>
            </a:r>
            <a:br>
              <a:rPr lang="en-MY" sz="1800"/>
            </a:br>
            <a:br>
              <a:rPr lang="en-MY" sz="1300"/>
            </a:b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937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∙"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c64c281c6_0_33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MY" sz="2400">
                <a:latin typeface="Times New Roman"/>
                <a:ea typeface="Times New Roman"/>
                <a:cs typeface="Times New Roman"/>
                <a:sym typeface="Times New Roman"/>
              </a:rPr>
              <a:t>Slide 10 – Major Findings &amp; Discussion</a:t>
            </a:r>
            <a:endParaRPr sz="5400"/>
          </a:p>
        </p:txBody>
      </p:sp>
      <p:sp>
        <p:nvSpPr>
          <p:cNvPr id="171" name="Google Shape;171;g38c64c281c6_0_33"/>
          <p:cNvSpPr txBox="1"/>
          <p:nvPr>
            <p:ph idx="1" type="subTitle"/>
          </p:nvPr>
        </p:nvSpPr>
        <p:spPr>
          <a:xfrm>
            <a:off x="231566" y="981135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MY" sz="1800"/>
              <a:t>Learned to optimize </a:t>
            </a:r>
            <a:r>
              <a:rPr b="1" lang="en-MY" sz="1800"/>
              <a:t>database interactions</a:t>
            </a:r>
            <a:r>
              <a:rPr lang="en-MY" sz="1800"/>
              <a:t> and handle </a:t>
            </a:r>
            <a:r>
              <a:rPr b="1" lang="en-MY" sz="1800"/>
              <a:t>concurrent processes</a:t>
            </a:r>
            <a:r>
              <a:rPr lang="en-MY" sz="1800"/>
              <a:t> efficiently using goroutines.</a:t>
            </a:r>
            <a:br>
              <a:rPr lang="en-MY" sz="1800"/>
            </a:b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/>
              <a:t>Challenges Faced: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MY" sz="1800"/>
              <a:t>Designing a </a:t>
            </a:r>
            <a:r>
              <a:rPr b="1" lang="en-MY" sz="1800"/>
              <a:t>robust matching engine</a:t>
            </a:r>
            <a:r>
              <a:rPr lang="en-MY" sz="1800"/>
              <a:t> that balances speed with accuracy.</a:t>
            </a:r>
            <a:br>
              <a:rPr lang="en-MY" sz="1800"/>
            </a:b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MY" sz="1800"/>
              <a:t>Managing </a:t>
            </a:r>
            <a:r>
              <a:rPr b="1" lang="en-MY" sz="1800"/>
              <a:t>complex data relationships</a:t>
            </a:r>
            <a:r>
              <a:rPr lang="en-MY" sz="1800"/>
              <a:t> between users, orders, and trades.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937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∙"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MY" sz="2400">
                <a:latin typeface="Times New Roman"/>
                <a:ea typeface="Times New Roman"/>
                <a:cs typeface="Times New Roman"/>
                <a:sym typeface="Times New Roman"/>
              </a:rPr>
              <a:t>Slide 11 – Conclusion and Future Scope</a:t>
            </a:r>
            <a:endParaRPr sz="5400"/>
          </a:p>
        </p:txBody>
      </p:sp>
      <p:sp>
        <p:nvSpPr>
          <p:cNvPr id="177" name="Google Shape;177;p11"/>
          <p:cNvSpPr txBox="1"/>
          <p:nvPr>
            <p:ph idx="1" type="subTitle"/>
          </p:nvPr>
        </p:nvSpPr>
        <p:spPr>
          <a:xfrm>
            <a:off x="234175" y="1269983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/>
              <a:t>Summary of Work Done: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MY" sz="1800"/>
              <a:t>Designed and implemented the </a:t>
            </a:r>
            <a:r>
              <a:rPr b="1" lang="en-MY" sz="1800"/>
              <a:t>core backend architecture</a:t>
            </a:r>
            <a:r>
              <a:rPr lang="en-MY" sz="1800"/>
              <a:t> for Orbix, a centralized crypto exchange.</a:t>
            </a:r>
            <a:br>
              <a:rPr lang="en-MY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MY" sz="1800"/>
              <a:t>Developed modules for </a:t>
            </a:r>
            <a:r>
              <a:rPr b="1" lang="en-MY" sz="1800"/>
              <a:t>user authentication</a:t>
            </a:r>
            <a:r>
              <a:rPr lang="en-MY" sz="1800"/>
              <a:t>, </a:t>
            </a:r>
            <a:r>
              <a:rPr b="1" lang="en-MY" sz="1800"/>
              <a:t>order creation</a:t>
            </a:r>
            <a:r>
              <a:rPr lang="en-MY" sz="1800"/>
              <a:t>, and </a:t>
            </a:r>
            <a:r>
              <a:rPr b="1" lang="en-MY" sz="1800"/>
              <a:t>basic order matching</a:t>
            </a:r>
            <a:r>
              <a:rPr lang="en-MY" sz="1800"/>
              <a:t>.</a:t>
            </a:r>
            <a:br>
              <a:rPr lang="en-MY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MY" sz="1800"/>
              <a:t>Deployed the system using </a:t>
            </a:r>
            <a:r>
              <a:rPr b="1" lang="en-MY" sz="1800"/>
              <a:t>Docker and Kubernetes</a:t>
            </a:r>
            <a:r>
              <a:rPr lang="en-MY" sz="1800"/>
              <a:t>, ensuring modularity and scalability.</a:t>
            </a:r>
            <a:br>
              <a:rPr lang="en-MY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MY" sz="1800"/>
              <a:t>Validated core functionalities through </a:t>
            </a:r>
            <a:r>
              <a:rPr b="1" lang="en-MY" sz="1800"/>
              <a:t>API testing and simulated trading workflows</a:t>
            </a:r>
            <a:r>
              <a:rPr lang="en-MY" sz="1800"/>
              <a:t>.</a:t>
            </a:r>
            <a:br>
              <a:rPr lang="en-MY" sz="1800"/>
            </a:b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937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∙"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c64c281c6_0_39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MY" sz="2400">
                <a:latin typeface="Times New Roman"/>
                <a:ea typeface="Times New Roman"/>
                <a:cs typeface="Times New Roman"/>
                <a:sym typeface="Times New Roman"/>
              </a:rPr>
              <a:t>Slide 12 – Conclusion and Future Scope</a:t>
            </a:r>
            <a:endParaRPr sz="5400"/>
          </a:p>
        </p:txBody>
      </p:sp>
      <p:sp>
        <p:nvSpPr>
          <p:cNvPr id="183" name="Google Shape;183;g38c64c281c6_0_39"/>
          <p:cNvSpPr txBox="1"/>
          <p:nvPr>
            <p:ph idx="1" type="subTitle"/>
          </p:nvPr>
        </p:nvSpPr>
        <p:spPr>
          <a:xfrm>
            <a:off x="234175" y="1269983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MY" sz="1800"/>
              <a:t>What Can Be Added in the Next Version: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MY" sz="1800"/>
              <a:t>Real-time trading engine</a:t>
            </a:r>
            <a:r>
              <a:rPr lang="en-MY" sz="1800"/>
              <a:t> using WebSockets for instant order book updates.</a:t>
            </a:r>
            <a:br>
              <a:rPr lang="en-MY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MY" sz="1800"/>
              <a:t>Wallet and onramping integration</a:t>
            </a:r>
            <a:r>
              <a:rPr lang="en-MY" sz="1800"/>
              <a:t> for deposits, withdrawals, and fiat conversions.</a:t>
            </a:r>
            <a:br>
              <a:rPr lang="en-MY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MY" sz="1800"/>
              <a:t>AI-powered fraud detection</a:t>
            </a:r>
            <a:r>
              <a:rPr lang="en-MY" sz="1800"/>
              <a:t> and user behavior analytics.</a:t>
            </a:r>
            <a:br>
              <a:rPr lang="en-MY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MY" sz="1800"/>
              <a:t>Automated deployment and monitoring</a:t>
            </a:r>
            <a:r>
              <a:rPr lang="en-MY" sz="1800"/>
              <a:t> via CI/CD pipelines and observability tools (Prometheus, Grafana).</a:t>
            </a:r>
            <a:br>
              <a:rPr lang="en-MY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MY" sz="1800"/>
              <a:t>Cloud-based scaling</a:t>
            </a:r>
            <a:r>
              <a:rPr lang="en-MY" sz="1800"/>
              <a:t> using managed Kubernetes services (GKE/EKS) for production-grade performance.</a:t>
            </a:r>
            <a:endParaRPr b="1"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937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∙"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MY" sz="2400">
                <a:latin typeface="Times New Roman"/>
                <a:ea typeface="Times New Roman"/>
                <a:cs typeface="Times New Roman"/>
                <a:sym typeface="Times New Roman"/>
              </a:rPr>
              <a:t>Slide 12 – Acknowledgement</a:t>
            </a:r>
            <a:endParaRPr sz="5400"/>
          </a:p>
        </p:txBody>
      </p:sp>
      <p:sp>
        <p:nvSpPr>
          <p:cNvPr id="189" name="Google Shape;189;p13"/>
          <p:cNvSpPr txBox="1"/>
          <p:nvPr>
            <p:ph idx="1" type="subTitle"/>
          </p:nvPr>
        </p:nvSpPr>
        <p:spPr>
          <a:xfrm>
            <a:off x="256478" y="144036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I express my sincere gratitude to my </a:t>
            </a: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project mentor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 for their constant guidance, valuable feedback, and encouragement throughout the development of </a:t>
            </a:r>
            <a:r>
              <a:rPr i="1" lang="en-MY" sz="1800">
                <a:latin typeface="Times New Roman"/>
                <a:ea typeface="Times New Roman"/>
                <a:cs typeface="Times New Roman"/>
                <a:sym typeface="Times New Roman"/>
              </a:rPr>
              <a:t>Orbix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I am thankful to the </a:t>
            </a: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 for providing the necessary resources and a supportive environment.</a:t>
            </a:r>
            <a:b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I would also like to extend heartfelt thanks to my </a:t>
            </a:r>
            <a:r>
              <a:rPr b="1" lang="en-MY" sz="1800">
                <a:latin typeface="Times New Roman"/>
                <a:ea typeface="Times New Roman"/>
                <a:cs typeface="Times New Roman"/>
                <a:sym typeface="Times New Roman"/>
              </a:rPr>
              <a:t>university</a:t>
            </a:r>
            <a:r>
              <a:rPr lang="en-MY" sz="1800">
                <a:latin typeface="Times New Roman"/>
                <a:ea typeface="Times New Roman"/>
                <a:cs typeface="Times New Roman"/>
                <a:sym typeface="Times New Roman"/>
              </a:rPr>
              <a:t> for offering this opportunity to explore and apply real-world system design concepts.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MY" sz="2400">
                <a:latin typeface="Times New Roman"/>
                <a:ea typeface="Times New Roman"/>
                <a:cs typeface="Times New Roman"/>
                <a:sym typeface="Times New Roman"/>
              </a:rPr>
              <a:t>Slide 13 – Q &amp; A</a:t>
            </a:r>
            <a:endParaRPr sz="5400"/>
          </a:p>
        </p:txBody>
      </p:sp>
      <p:sp>
        <p:nvSpPr>
          <p:cNvPr id="195" name="Google Shape;195;p14"/>
          <p:cNvSpPr txBox="1"/>
          <p:nvPr>
            <p:ph idx="1" type="sub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241475" y="1287875"/>
            <a:ext cx="6667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Repository:</a:t>
            </a:r>
            <a:r>
              <a:rPr lang="en-MY" sz="18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MY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github.com/yourusername/orbix</a:t>
            </a:r>
            <a:br>
              <a:rPr lang="en-MY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</a:br>
            <a:endParaRPr sz="18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for your time and attention!</a:t>
            </a:r>
            <a:br>
              <a:rPr lang="en-MY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are happy to answer any questions.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